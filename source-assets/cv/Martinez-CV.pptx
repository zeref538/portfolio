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10"/>
  </p:sldIdLst>
  <p:sldSz cx="7556500" cy="10693400"/>
  <p:notesSz cx="6858000" cy="9144000"/>
  <p:embeddedFontLst>
    <p:embeddedFont>
      <p:font typeface="Inter Semi-Bold" charset="1" panose="02000503000000020004"/>
      <p:regular r:id="rId7"/>
    </p:embeddedFont>
    <p:embeddedFont>
      <p:font typeface="Inter" charset="1" panose="020B0502030000000004"/>
      <p:regular r:id="rId8"/>
    </p:embeddedFont>
    <p:embeddedFont>
      <p:font typeface="Inter Bold" charset="1" panose="020B080203000000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ohnandrei.vercel.app" TargetMode="External"/><Relationship Id="rId4" Type="http://schemas.openxmlformats.org/officeDocument/2006/relationships/hyperlink" Target="https://www.linkedin.com/in/john-andrei-martinez-499a0b343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96239" y="1979171"/>
            <a:ext cx="6712015" cy="0"/>
          </a:xfrm>
          <a:prstGeom prst="line">
            <a:avLst/>
          </a:prstGeom>
          <a:ln cap="rnd" w="2857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33826" y="2387722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57214" y="7344371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450000" y="3761367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57214" y="9616286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657657" y="320995"/>
            <a:ext cx="1419121" cy="141912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-91060">
              <a:off x="-10621" y="-10621"/>
              <a:ext cx="834042" cy="834042"/>
            </a:xfrm>
            <a:custGeom>
              <a:avLst/>
              <a:gdLst/>
              <a:ahLst/>
              <a:cxnLst/>
              <a:rect r="r" b="b" t="t" l="l"/>
              <a:pathLst>
                <a:path h="834042" w="834042">
                  <a:moveTo>
                    <a:pt x="21527" y="0"/>
                  </a:moveTo>
                  <a:lnTo>
                    <a:pt x="834042" y="21527"/>
                  </a:lnTo>
                  <a:lnTo>
                    <a:pt x="812515" y="834042"/>
                  </a:lnTo>
                  <a:lnTo>
                    <a:pt x="0" y="812515"/>
                  </a:lnTo>
                  <a:close/>
                </a:path>
              </a:pathLst>
            </a:custGeom>
            <a:blipFill>
              <a:blip r:embed="rId2"/>
              <a:stretch>
                <a:fillRect l="-1360" t="-1360" r="-1360" b="-136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5293826" y="2431854"/>
            <a:ext cx="18000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00"/>
              </a:lnSpc>
              <a:spcBef>
                <a:spcPct val="0"/>
              </a:spcBef>
            </a:pPr>
            <a:r>
              <a:rPr lang="en-US" b="true" sz="1000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August 2024 - Present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3826" y="2430584"/>
            <a:ext cx="4500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Our Lady of Fatima University | 2023 - Present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6239" y="2678055"/>
            <a:ext cx="6680539" cy="76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Dean's Lister 2023-2026, with placements in the Python, Database Design, and C Programming 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Specialized in AI/ML Engineering</a:t>
            </a:r>
            <a:r>
              <a:rPr lang="en-US" sz="11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, independently designing and evaluating production-grade systems across agentic AI, RAG, and LLM fine-tuning.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Technical Team Member, English Society; Directorate Member, JPCS.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3826" y="2149579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EDUCATIONAL BACKGROUND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7214" y="9403878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SKILLS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7214" y="7106229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EXTRACURRICULAR ACTIVITIES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50000" y="4557022"/>
            <a:ext cx="6745690" cy="509905"/>
            <a:chOff x="0" y="0"/>
            <a:chExt cx="8994253" cy="67987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6326973" y="-28575"/>
              <a:ext cx="2553027" cy="223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b="true" sz="1000">
                  <a:solidFill>
                    <a:srgbClr val="1E1E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June 2026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28575"/>
              <a:ext cx="6000000" cy="239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true">
                  <a:solidFill>
                    <a:srgbClr val="1E1E1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Google AI Professional Certificate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27965"/>
              <a:ext cx="8994253" cy="451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Coursera</a:t>
              </a:r>
            </a:p>
            <a:p>
              <a:pPr algn="l" marL="215901" indent="-107951" lvl="1">
                <a:lnSpc>
                  <a:spcPts val="1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Covers foundatio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ns of AI/ML, generative AI, and responsible AI practices using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 Google Cloud tools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50000" y="3523224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CERTIFICATIONS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3826" y="402887"/>
            <a:ext cx="5028841" cy="33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0"/>
              </a:lnSpc>
              <a:spcBef>
                <a:spcPct val="0"/>
              </a:spcBef>
            </a:pPr>
            <a:r>
              <a:rPr lang="en-US" b="true" sz="197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  <a:hlinkClick r:id="rId3" tooltip="https://johnandrei.vercel.app"/>
              </a:rPr>
              <a:t>JOHN ANDREI MERONG MARTINEZ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3826" y="844851"/>
            <a:ext cx="781029" cy="83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Address: </a:t>
            </a:r>
          </a:p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Phone:</a:t>
            </a:r>
          </a:p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Email: </a:t>
            </a:r>
          </a:p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LinkedIn: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4886" y="844851"/>
            <a:ext cx="4199992" cy="82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2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San Jose Del Monte</a:t>
            </a: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Bulacan, Philipines</a:t>
            </a:r>
          </a:p>
          <a:p>
            <a:pPr algn="l">
              <a:lnSpc>
                <a:spcPts val="1850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0993-446-6975</a:t>
            </a:r>
          </a:p>
          <a:p>
            <a:pPr algn="l">
              <a:lnSpc>
                <a:spcPts val="1632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martinezjandrei8425@gmail.com</a:t>
            </a:r>
          </a:p>
          <a:p>
            <a:pPr algn="l">
              <a:lnSpc>
                <a:spcPts val="1632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4" tooltip="https://www.linkedin.com/in/john-andrei-martinez-499a0b343/"/>
              </a:rPr>
              <a:t>/john-andrei-martinez-499a0b343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08254" y="7441094"/>
            <a:ext cx="180000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2026 - Present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8786" y="7431569"/>
            <a:ext cx="45000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FlyRank AI </a:t>
            </a: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– </a:t>
            </a: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ML engineering Intern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2786" y="7644294"/>
            <a:ext cx="6674429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Assisted in AI/ML development by preparing datasets, validating outputs, and supporting model testing and workflow automation. 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eveloped Python-based automation tools, managed data pipelines, and collaborated on AI solutions to improve operational efficiency.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50000" y="5886394"/>
            <a:ext cx="6709244" cy="509905"/>
            <a:chOff x="0" y="0"/>
            <a:chExt cx="8945659" cy="679873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6292790" y="18640"/>
              <a:ext cx="2539233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b="true" sz="1000">
                  <a:solidFill>
                    <a:srgbClr val="1E1E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July 2025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-28575"/>
              <a:ext cx="5967583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true">
                  <a:solidFill>
                    <a:srgbClr val="1E1E1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Oracle Cloud Infrastructure Certified AI Foundations Associate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227965"/>
              <a:ext cx="8945659" cy="451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Oracle University</a:t>
              </a:r>
            </a:p>
            <a:p>
              <a:pPr algn="l" marL="215901" indent="-107951" lvl="1">
                <a:lnSpc>
                  <a:spcPts val="1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Validates understandi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ng of AI/ML services on Oracle Cloud, including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 vision, language, and data science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33826" y="5224089"/>
            <a:ext cx="6691373" cy="509905"/>
            <a:chOff x="0" y="0"/>
            <a:chExt cx="8921830" cy="679873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6294781" y="9525"/>
              <a:ext cx="2539215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b="true" sz="1000">
                  <a:solidFill>
                    <a:srgbClr val="1E1E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June 2026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4236" y="227965"/>
              <a:ext cx="8897595" cy="451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Udemy</a:t>
              </a:r>
            </a:p>
            <a:p>
              <a:pPr algn="l" marL="215901" indent="-107951" lvl="1">
                <a:lnSpc>
                  <a:spcPts val="1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Covers 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AI/ML and generative AI concepts on AWS, foundation models, prompt engineering, and AI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28575"/>
              <a:ext cx="5967540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true">
                  <a:solidFill>
                    <a:srgbClr val="1E1E1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AWS AI Practitioner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57214" y="6548699"/>
            <a:ext cx="6709244" cy="509905"/>
            <a:chOff x="0" y="0"/>
            <a:chExt cx="8945659" cy="679873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6295788" y="62270"/>
              <a:ext cx="2553027" cy="223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b="true" sz="1000">
                  <a:solidFill>
                    <a:srgbClr val="1E1E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May 2025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-28575"/>
              <a:ext cx="5967583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true">
                  <a:solidFill>
                    <a:srgbClr val="1E1E1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Google Data Analytics Professional Certificate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1353" y="227965"/>
              <a:ext cx="8924306" cy="451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Coursera</a:t>
              </a:r>
            </a:p>
            <a:p>
              <a:pPr algn="l" marL="215901" indent="-107951" lvl="1">
                <a:lnSpc>
                  <a:spcPts val="1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Hands-on training in data cleani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ng, analysis, and visualization using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 SQL, R, and Tableau.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50000" y="3932817"/>
            <a:ext cx="6919319" cy="509905"/>
            <a:chOff x="0" y="0"/>
            <a:chExt cx="9225759" cy="679873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6326973" y="62270"/>
              <a:ext cx="2553027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b="true" sz="1000">
                  <a:solidFill>
                    <a:srgbClr val="1E1E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  July 2026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-28575"/>
              <a:ext cx="5967583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true">
                  <a:solidFill>
                    <a:srgbClr val="1E1E1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Google Advanced Data Analytics Professional Certificate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227965"/>
              <a:ext cx="9225759" cy="451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Coursera</a:t>
              </a:r>
            </a:p>
            <a:p>
              <a:pPr algn="l" marL="215901" indent="-107951" lvl="1">
                <a:lnSpc>
                  <a:spcPts val="1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Advanced 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statistical analysis, regression modeling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, and machine learning using Python and Tableau.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457214" y="8406929"/>
            <a:ext cx="45000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Freelance </a:t>
            </a: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– </a:t>
            </a: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Virtual Assistant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57214" y="8619654"/>
            <a:ext cx="666000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Managed end-to-end recruitment, data administration, and digital records, improving hiring efficiency and record accuracy.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Created branded social media content and coordinated influencer campaigns, ensuring consistent marketing and on-time deliverables.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293826" y="8416453"/>
            <a:ext cx="180000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2025 - 2026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42349" y="9716298"/>
            <a:ext cx="6597301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695" indent="-113347" lvl="1">
              <a:lnSpc>
                <a:spcPts val="1470"/>
              </a:lnSpc>
              <a:buFont typeface="Arial"/>
              <a:buChar char="•"/>
            </a:pPr>
            <a:r>
              <a:rPr lang="en-US" sz="105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Programming &amp; Databases: Python, SQL, PostgreSQL, MongoDB, JavaScript, Java, C, C++, React, Node.js</a:t>
            </a:r>
          </a:p>
          <a:p>
            <a:pPr algn="l" marL="226695" indent="-113347" lvl="1">
              <a:lnSpc>
                <a:spcPts val="1470"/>
              </a:lnSpc>
              <a:buFont typeface="Arial"/>
              <a:buChar char="•"/>
            </a:pPr>
            <a:r>
              <a:rPr lang="en-US" sz="105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AI/ML &amp; Data Science: LangChain, RAG, Agentic AI, LLM Fine‑Tuning, Ollama, CNNs</a:t>
            </a:r>
          </a:p>
          <a:p>
            <a:pPr algn="l" marL="226695" indent="-113347" lvl="1">
              <a:lnSpc>
                <a:spcPts val="1470"/>
              </a:lnSpc>
              <a:buFont typeface="Arial"/>
              <a:buChar char="•"/>
            </a:pPr>
            <a:r>
              <a:rPr lang="en-US" sz="105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Frameworks &amp; Tools: FastAPI, Docker, Git/GitHub, Kaggle</a:t>
            </a:r>
          </a:p>
          <a:p>
            <a:pPr algn="l" marL="226695" indent="-113347" lvl="1">
              <a:lnSpc>
                <a:spcPts val="1470"/>
              </a:lnSpc>
              <a:buFont typeface="Arial"/>
              <a:buChar char="•"/>
            </a:pPr>
            <a:r>
              <a:rPr lang="en-US" sz="105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Cloud &amp; Visualization: Google Cloud, Azure, Tableau,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TextBox 12" id="12"/>
          <p:cNvSpPr txBox="true"/>
          <p:nvPr/>
        </p:nvSpPr>
        <p:spPr>
          <a:xfrm rot="0">
            <a:off x="429768" y="402336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PROJECTS</a:t>
            </a:r>
          </a:p>
        </p:txBody>
      </p:sp>
      <p:sp>
        <p:nvSpPr>
          <p:cNvPr name="AutoShape 3" id="3"/>
          <p:cNvSpPr/>
          <p:nvPr/>
        </p:nvSpPr>
        <p:spPr>
          <a:xfrm>
            <a:off x="429768" y="640080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429768" y="694944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github.com/Zeref538   |   johnandreimartinez.com   |   20 projects, 18 with live demos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768" y="1005840"/>
            <a:ext cx="512064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YODA - Your Offline Data Agent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1005840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1197864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Tech: Python, Ollama, FastAPI, pandas, Agentic AI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1389888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Built a local-first data agent that answers questions over CSV and Excel files with no data leaving the machine, running a local Ollama model behind FastAPI.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Designed a tool-calling loop that plans pandas operations, runs them, and checks its own output before answering.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768" y="2048256"/>
            <a:ext cx="512064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Aegix AI - Contract Compliance Screening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2048256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2240280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Tech: Python, LangChain, Azure OpenAI, Vector Search, RAG, FastAPI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2432304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Shipped a retrieval-augmented screening tool that flags non-compliant contract clauses and cites the source paragraph behind every flag.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Built the vector-search retrieval layer over Azure OpenAI embeddings, served through FastAPI with a React front end.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768" y="3090672"/>
            <a:ext cx="512064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Refusal Calibration - LLM Fine-Tuning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3090672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3282696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Tech: PyTorch, LoRA, QLoRA, Model Evaluation, Python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3474720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Fine-tuned a base model with LoRA so it refuses out-of-scope questions instead of answering them confidently.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Built a held-out evaluation set measuring over-refusal as well as refusal, so the model is not rewarded for simply declining everything.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768" y="4133088"/>
            <a:ext cx="512064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APAW - Dam Level and Spill-Risk Nowcaster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4133088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4325112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Tech: Python, River, Online Learning, Time-Series, GitHub Actions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4517136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Deployed a self-updating forecaster that retrains on new Open-Meteo readings through a scheduled GitHub Actions job, running unattended.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Used online learning so the model adapts to seasonal shift with no full retrain.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768" y="5175504"/>
            <a:ext cx="512064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FORGE - Fake Or Real Image Examiner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5175504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5367528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Tech: PyTorch, ONNX, Computer Vision, GitHub Actions, JavaScript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5559552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Trained an image classifier separating AI-generated images from photographs, exported to ONNX so it runs in the browser with no server.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768" y="6025896"/>
            <a:ext cx="512064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Refresh Priority on Real Search 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6025896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6217920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Tech: scikit-learn, DuckDB, pandas, Causal Inference, Python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6409944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Ranked which pages to refresh first from real search-console data, reaching 0.88 Precision@50 against a 0.86 recency baseline.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Ran a leakage audit and bootstrap confidence intervals to show the gain was real and not an artefact of the split.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DAHTGHTwlxc</dc:identifier>
  <dcterms:modified xsi:type="dcterms:W3CDTF">2011-08-01T06:04:30Z</dcterms:modified>
  <cp:revision>1</cp:revision>
  <dc:title>CVs</dc:title>
</cp:coreProperties>
</file>